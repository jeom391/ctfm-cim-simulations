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8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presProps" Target="presProps.xml"  /><Relationship Id="rId7" Type="http://schemas.openxmlformats.org/officeDocument/2006/relationships/viewProps" Target="viewProps.xml"  /><Relationship Id="rId8" Type="http://schemas.openxmlformats.org/officeDocument/2006/relationships/theme" Target="theme/theme1.xml"  /><Relationship Id="rId9" Type="http://schemas.openxmlformats.org/officeDocument/2006/relationships/tableStyles" Target="tableStyles.xml"  /></Relationships>
</file>

<file path=ppt/drawings/_rels/vmlDrawing1.vml.rels><?xml version="1.0" encoding="UTF-8" standalone="yes" ?><Relationships xmlns="http://schemas.openxmlformats.org/package/2006/relationships"><Relationship Id="rId1" Type="http://schemas.openxmlformats.org/officeDocument/2006/relationships/image" Target="../media/image3.emf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vmlDrawing" Target="../drawings/vmlDrawing1.vml"  /><Relationship Id="rId3" Type="http://schemas.openxmlformats.org/officeDocument/2006/relationships/oleObject" Target="../embeddings/oleObject1.bin"  /><Relationship Id="rId4" Type="http://schemas.openxmlformats.org/officeDocument/2006/relationships/image" Target="../media/image4.png"  /><Relationship Id="rId5" Type="http://schemas.openxmlformats.org/officeDocument/2006/relationships/image" Target="../media/image5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9.png"  /><Relationship Id="rId3" Type="http://schemas.openxmlformats.org/officeDocument/2006/relationships/image" Target="../media/image10.png"  /><Relationship Id="rId4" Type="http://schemas.openxmlformats.org/officeDocument/2006/relationships/image" Target="../media/image11.png"  /><Relationship Id="rId5" Type="http://schemas.openxmlformats.org/officeDocument/2006/relationships/image" Target="../media/image12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/>
          <p:nvPr/>
        </p:nvSpPr>
        <p:spPr>
          <a:xfrm>
            <a:off x="537835" y="204017"/>
            <a:ext cx="1663066" cy="529590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900" b="1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</a:t>
            </a:r>
            <a:r>
              <a:rPr lang="en-US" altLang="ko-KR" sz="2900" b="1" baseline="-240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th</a:t>
            </a:r>
            <a:r>
              <a:rPr xmlns:mc="http://schemas.openxmlformats.org/markup-compatibility/2006" xmlns:hp="http://schemas.haansoft.com/office/presentation/8.0" kumimoji="0" lang="en-US" altLang="ko-KR" sz="2900" b="1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-CCM</a:t>
            </a:r>
            <a:endParaRPr xmlns:mc="http://schemas.openxmlformats.org/markup-compatibility/2006" xmlns:hp="http://schemas.haansoft.com/office/presentation/8.0" kumimoji="0" lang="en-US" altLang="ko-KR" sz="2900" b="1" i="0" u="none" strike="noStrike" kern="1200" cap="none" spc="0" normalizeH="0" baseline="0" mc:Ignorable="hp" hp:hslEmbossed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제목 1"/>
          <p:cNvSpPr/>
          <p:nvPr/>
        </p:nvSpPr>
        <p:spPr>
          <a:xfrm>
            <a:off x="537835" y="874662"/>
            <a:ext cx="6053325" cy="529590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1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 CCM(Constant</a:t>
            </a:r>
            <a:r>
              <a:rPr xmlns:mc="http://schemas.openxmlformats.org/markup-compatibility/2006" xmlns:hp="http://schemas.haansoft.com/office/presentation/8.0" kumimoji="0" lang="ko-KR" altLang="en-US" sz="21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1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Current Method) </a:t>
            </a:r>
            <a:endParaRPr xmlns:mc="http://schemas.openxmlformats.org/markup-compatibility/2006" xmlns:hp="http://schemas.haansoft.com/office/presentation/8.0" kumimoji="0" lang="en-US" altLang="ko-KR" sz="2100" i="0" u="none" strike="noStrike" kern="1200" cap="none" spc="0" normalizeH="0" baseline="0" mc:Ignorable="hp" hp:hslEmbossed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7" name="그림 16"/>
          <p:cNvPicPr/>
          <p:nvPr/>
        </p:nvPicPr>
        <p:blipFill rotWithShape="1">
          <a:blip r:embed="rId2">
            <a:lum/>
          </a:blip>
          <a:srcRect/>
          <a:stretch>
            <a:fillRect/>
          </a:stretch>
        </p:blipFill>
        <p:spPr>
          <a:xfrm>
            <a:off x="499735" y="1545307"/>
            <a:ext cx="3148110" cy="2670902"/>
          </a:xfrm>
          <a:prstGeom prst="rect">
            <a:avLst/>
          </a:prstGeom>
        </p:spPr>
      </p:pic>
      <p:sp>
        <p:nvSpPr>
          <p:cNvPr id="18" name="제목 1"/>
          <p:cNvSpPr/>
          <p:nvPr/>
        </p:nvSpPr>
        <p:spPr>
          <a:xfrm>
            <a:off x="3564498" y="1399361"/>
            <a:ext cx="8250735" cy="3066704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p>
            <a:pPr marL="271320" lvl="0" indent="-271320" algn="l">
              <a:lnSpc>
                <a:spcPct val="150000"/>
              </a:lnSpc>
              <a:spcBef>
                <a:spcPct val="0"/>
              </a:spcBef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Drain current I</a:t>
            </a:r>
            <a:r>
              <a:rPr lang="en-US" altLang="ko-KR" baseline="-24000">
                <a:solidFill>
                  <a:schemeClr val="tx1"/>
                </a:solidFill>
                <a:effectLst/>
                <a:latin typeface="맑은 고딕"/>
                <a:cs typeface="+mj-cs"/>
              </a:rPr>
              <a:t>d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가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미리 정해 놓은 특정 전류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I</a:t>
            </a:r>
            <a:r>
              <a:rPr lang="en-US" altLang="ko-KR" baseline="-24000">
                <a:solidFill>
                  <a:schemeClr val="tx1"/>
                </a:solidFill>
                <a:effectLst/>
                <a:latin typeface="맑은 고딕"/>
                <a:cs typeface="+mj-cs"/>
              </a:rPr>
              <a:t>ref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에 도달했을 때의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V</a:t>
            </a:r>
            <a:r>
              <a:rPr lang="en-US" altLang="ko-KR" baseline="-24000">
                <a:solidFill>
                  <a:schemeClr val="tx1"/>
                </a:solidFill>
                <a:effectLst/>
                <a:latin typeface="맑은 고딕"/>
                <a:cs typeface="+mj-cs"/>
              </a:rPr>
              <a:t>g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를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V</a:t>
            </a:r>
            <a:r>
              <a:rPr lang="en-US" altLang="ko-KR" baseline="-24000">
                <a:solidFill>
                  <a:schemeClr val="tx1"/>
                </a:solidFill>
                <a:effectLst/>
                <a:latin typeface="맑은 고딕"/>
                <a:cs typeface="+mj-cs"/>
              </a:rPr>
              <a:t>th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로 정의하는 방법</a:t>
            </a:r>
            <a:endPara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  <a:cs typeface="+mj-cs"/>
            </a:endParaRPr>
          </a:p>
          <a:p>
            <a:pPr marL="271320" lvl="0" indent="-271320" algn="l">
              <a:lnSpc>
                <a:spcPct val="150000"/>
              </a:lnSpc>
              <a:spcBef>
                <a:spcPct val="0"/>
              </a:spcBef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왼쪽 그래프와 같이 파란색으로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Id-Vg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 그래프가 그려질 때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 측정 결과에 맞는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V</a:t>
            </a:r>
            <a:r>
              <a:rPr lang="en-US" altLang="ko-KR" baseline="-24000">
                <a:solidFill>
                  <a:schemeClr val="tx1"/>
                </a:solidFill>
                <a:effectLst/>
                <a:latin typeface="맑은 고딕"/>
                <a:cs typeface="+mj-cs"/>
              </a:rPr>
              <a:t>th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를 구하기 적절한 특정 전류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I</a:t>
            </a:r>
            <a:r>
              <a:rPr lang="en-US" altLang="ko-KR" baseline="-24000">
                <a:solidFill>
                  <a:schemeClr val="tx1"/>
                </a:solidFill>
                <a:effectLst/>
                <a:latin typeface="맑은 고딕"/>
                <a:cs typeface="+mj-cs"/>
              </a:rPr>
              <a:t>ref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를 정하였다면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I</a:t>
            </a:r>
            <a:r>
              <a:rPr lang="en-US" altLang="ko-KR" baseline="-24000">
                <a:solidFill>
                  <a:schemeClr val="tx1"/>
                </a:solidFill>
                <a:effectLst/>
                <a:latin typeface="맑은 고딕"/>
                <a:cs typeface="+mj-cs"/>
              </a:rPr>
              <a:t>d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가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I</a:t>
            </a:r>
            <a:r>
              <a:rPr lang="en-US" altLang="ko-KR" baseline="-24000">
                <a:solidFill>
                  <a:schemeClr val="tx1"/>
                </a:solidFill>
                <a:effectLst/>
                <a:latin typeface="맑은 고딕"/>
                <a:cs typeface="+mj-cs"/>
              </a:rPr>
              <a:t>ref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가 되는 지점에서의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V</a:t>
            </a:r>
            <a:r>
              <a:rPr lang="en-US" altLang="ko-KR" baseline="-24000">
                <a:solidFill>
                  <a:schemeClr val="tx1"/>
                </a:solidFill>
                <a:effectLst/>
                <a:latin typeface="맑은 고딕"/>
                <a:cs typeface="+mj-cs"/>
              </a:rPr>
              <a:t>g</a:t>
            </a:r>
            <a:r>
              <a:rPr lang="ko-KR" altLang="en-US" baseline="-24000">
                <a:solidFill>
                  <a:schemeClr val="tx1"/>
                </a:solidFill>
                <a:effectLst/>
                <a:latin typeface="맑은 고딕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게이트 전압을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V</a:t>
            </a:r>
            <a:r>
              <a:rPr lang="en-US" altLang="ko-KR" baseline="-24000">
                <a:solidFill>
                  <a:schemeClr val="tx1"/>
                </a:solidFill>
                <a:effectLst/>
                <a:latin typeface="맑은 고딕"/>
                <a:cs typeface="+mj-cs"/>
              </a:rPr>
              <a:t>th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로 추출</a:t>
            </a:r>
            <a:endPara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  <a:cs typeface="+mj-cs"/>
            </a:endParaRPr>
          </a:p>
          <a:p>
            <a:pPr marL="271320" lvl="0" indent="-271320" algn="l">
              <a:lnSpc>
                <a:spcPct val="150000"/>
              </a:lnSpc>
              <a:spcBef>
                <a:spcPct val="0"/>
              </a:spcBef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I</a:t>
            </a:r>
            <a:r>
              <a:rPr lang="en-US" altLang="ko-KR" baseline="-24000">
                <a:solidFill>
                  <a:schemeClr val="tx1"/>
                </a:solidFill>
                <a:effectLst/>
                <a:latin typeface="맑은 고딕"/>
                <a:cs typeface="+mj-cs"/>
              </a:rPr>
              <a:t>ref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는 아무 값으로 정하는 것이 아니라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cs typeface="+mj-cs"/>
              </a:rPr>
              <a:t>OFF/leakage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cs typeface="+mj-cs"/>
              </a:rPr>
              <a:t> 영역보다는 충분히 크면서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cs typeface="+mj-cs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cs typeface="+mj-cs"/>
              </a:rPr>
              <a:t> 완전히 강한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cs typeface="+mj-cs"/>
              </a:rPr>
              <a:t>ON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cs typeface="+mj-cs"/>
              </a:rPr>
              <a:t> 영역으로 들어가기 전의 전류 영역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으로 결정</a:t>
            </a:r>
            <a:endPara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  <a:cs typeface="+mj-cs"/>
            </a:endParaRPr>
          </a:p>
        </p:txBody>
      </p:sp>
      <p:sp>
        <p:nvSpPr>
          <p:cNvPr id="19" name="제목 1"/>
          <p:cNvSpPr/>
          <p:nvPr/>
        </p:nvSpPr>
        <p:spPr>
          <a:xfrm>
            <a:off x="537835" y="4466066"/>
            <a:ext cx="10737894" cy="1626522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예시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  <a:endPara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기준 전류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altLang="ko-KR" baseline="-240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ref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를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0.1uA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로 정했을 경우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Id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가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0.1uA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가 되는 값을 찾아서 그때의 전압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Vg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가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Vth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로 정의되는 것</a:t>
            </a:r>
            <a:endPara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자유형 20"/>
              <p:cNvSpPr/>
              <p:nvPr/>
            </p:nvSpPr>
            <p:spPr>
              <a:xfrm>
                <a:off x="499735" y="5446135"/>
                <a:ext cx="4152900" cy="485775"/>
              </a:xfrm>
              <a:custGeom>
                <a:avLst/>
                <a:gd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 xmlns:m="http://schemas.openxmlformats.org/officeDocument/2006/math" xmlns:mc="http://schemas.openxmlformats.org/markup-compatibility/2006" xmlns:ho="http://schemas.haansoft.com/office/8.0" mc:Ignorable="ho" ho:hncCreate="1">
                  <m:oMathPara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 i="1">
                          <a:latin typeface="Cambria Math"/>
                          <a:sym typeface="Cambria Math"/>
                        </a:rPr>
                        <m:t xml:space="preserve"> 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→</m:t>
                      </m:r>
                      <m:sSub>
                        <m:sSubPr>
                          <m:ctrlPr>
                            <a:rPr sz="1800" i="1">
                              <a:latin typeface="Cambria Math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 xml:space="preserve"> 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𝐼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𝑑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=</m:t>
                      </m:r>
                      <m:sSub>
                        <m:sSubPr>
                          <m:ctrlPr>
                            <a:rPr sz="1800" i="1">
                              <a:latin typeface="Cambria Math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𝐼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𝑟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𝑒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𝑓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 xml:space="preserve"> =0.1uA가 될 때의 </m:t>
                      </m:r>
                      <m:sSub>
                        <m:sSubPr>
                          <m:ctrlPr>
                            <a:rPr sz="1800" i="1">
                              <a:latin typeface="Cambria Math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𝑉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𝑔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=</m:t>
                      </m:r>
                      <m:sSub>
                        <m:sSubPr>
                          <m:ctrlPr>
                            <a:rPr sz="1800" i="1">
                              <a:latin typeface="Cambria Math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𝑉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ℎ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1" name=""/>
              <p:cNvSpPr txBox="1"/>
              <p:nvPr/>
            </p:nvSpPr>
            <p:spPr>
              <a:xfrm>
                <a:off x="499735" y="5446135"/>
                <a:ext cx="4152900" cy="485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</p:sp>
        </mc:Fallback>
      </mc:AlternateContent>
    </p:spTree>
    <p:extLst>
      <p:ext uri="{BB962C8B-B14F-4D97-AF65-F5344CB8AC3E}">
        <p14:creationId xmlns:p14="http://schemas.microsoft.com/office/powerpoint/2010/main" val="1303950263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537835" y="204017"/>
            <a:ext cx="1663066" cy="529590"/>
          </a:xfrm>
        </p:spPr>
        <p:txBody>
          <a:bodyPr>
            <a:noAutofit/>
          </a:bodyPr>
          <a:p>
            <a:pPr lvl="0" algn="l">
              <a:defRPr/>
            </a:pPr>
            <a:r>
              <a:rPr lang="en-US" altLang="ko-KR" sz="2900" b="1"/>
              <a:t>V</a:t>
            </a:r>
            <a:r>
              <a:rPr lang="en-US" altLang="ko-KR" sz="2900" b="1" baseline="-24000">
                <a:effectLst/>
              </a:rPr>
              <a:t>th</a:t>
            </a:r>
            <a:r>
              <a:rPr lang="en-US" altLang="ko-KR" sz="2900" b="1"/>
              <a:t> -CCM</a:t>
            </a:r>
            <a:endParaRPr lang="en-US" altLang="ko-KR" sz="2900" b="1"/>
          </a:p>
        </p:txBody>
      </p:sp>
      <p:sp>
        <p:nvSpPr>
          <p:cNvPr id="4" name="제목 1"/>
          <p:cNvSpPr/>
          <p:nvPr/>
        </p:nvSpPr>
        <p:spPr>
          <a:xfrm>
            <a:off x="537835" y="874662"/>
            <a:ext cx="11092916" cy="789362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9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</a:t>
            </a:r>
            <a:r>
              <a:rPr lang="en-US" altLang="ko-KR" sz="1900" baseline="-240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g</a:t>
            </a:r>
            <a:r>
              <a:rPr xmlns:mc="http://schemas.openxmlformats.org/markup-compatibility/2006" xmlns:hp="http://schemas.haansoft.com/office/presentation/8.0" kumimoji="0" lang="ko-KR" altLang="en-US" sz="19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9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sweep</a:t>
            </a:r>
            <a:r>
              <a:rPr xmlns:mc="http://schemas.openxmlformats.org/markup-compatibility/2006" xmlns:hp="http://schemas.haansoft.com/office/presentation/8.0" kumimoji="0" lang="ko-KR" altLang="en-US" sz="19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으로 </a:t>
            </a:r>
            <a:r>
              <a:rPr xmlns:mc="http://schemas.openxmlformats.org/markup-compatibility/2006" xmlns:hp="http://schemas.haansoft.com/office/presentation/8.0" kumimoji="0" lang="en-US" altLang="ko-KR" sz="19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altLang="ko-KR" sz="1900" baseline="-240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d</a:t>
            </a:r>
            <a:r>
              <a:rPr xmlns:mc="http://schemas.openxmlformats.org/markup-compatibility/2006" xmlns:hp="http://schemas.haansoft.com/office/presentation/8.0" kumimoji="0" lang="en-US" altLang="ko-KR" sz="19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-V</a:t>
            </a:r>
            <a:r>
              <a:rPr lang="en-US" altLang="ko-KR" sz="1900" baseline="-240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g</a:t>
            </a:r>
            <a:r>
              <a:rPr lang="ko-KR" altLang="en-US" sz="1900" baseline="-240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9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그래프를 측정 </a:t>
            </a:r>
            <a:r>
              <a:rPr xmlns:mc="http://schemas.openxmlformats.org/markup-compatibility/2006" xmlns:hp="http://schemas.haansoft.com/office/presentation/8.0" kumimoji="0" lang="en-US" altLang="ko-KR" sz="19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⇒</a:t>
            </a:r>
            <a:r>
              <a:rPr xmlns:mc="http://schemas.openxmlformats.org/markup-compatibility/2006" xmlns:hp="http://schemas.haansoft.com/office/presentation/8.0" kumimoji="0" lang="ko-KR" altLang="en-US" sz="19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900" b="1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</a:t>
            </a:r>
            <a:r>
              <a:rPr lang="en-US" altLang="ko-KR" sz="1900" b="1" baseline="-240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g</a:t>
            </a:r>
            <a:r>
              <a:rPr xmlns:mc="http://schemas.openxmlformats.org/markup-compatibility/2006" xmlns:hp="http://schemas.haansoft.com/office/presentation/8.0" kumimoji="0" lang="en-US" altLang="ko-KR" sz="19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[0</a:t>
            </a:r>
            <a:r>
              <a:rPr xmlns:mc="http://schemas.openxmlformats.org/markup-compatibility/2006" xmlns:hp="http://schemas.haansoft.com/office/presentation/8.0" kumimoji="0" lang="ko-KR" altLang="en-US" sz="19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9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 → </a:t>
            </a:r>
            <a:r>
              <a:rPr xmlns:mc="http://schemas.openxmlformats.org/markup-compatibility/2006" xmlns:hp="http://schemas.haansoft.com/office/presentation/8.0" kumimoji="0" lang="en-US" altLang="ko-KR" sz="1900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-15 V → 0 V</a:t>
            </a:r>
            <a:r>
              <a:rPr xmlns:mc="http://schemas.openxmlformats.org/markup-compatibility/2006" xmlns:hp="http://schemas.haansoft.com/office/presentation/8.0" kumimoji="0" lang="en-US" altLang="ko-KR" sz="1900" i="0" u="none" strike="noStrike" kern="1200" cap="none" spc="0" normalizeH="0" baseline="0" mc:Ignorable="hp" hp:hslEmbossed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9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→ 15 V → 0 V → -15 V] </a:t>
            </a:r>
            <a:r>
              <a:rPr xmlns:mc="http://schemas.openxmlformats.org/markup-compatibility/2006" xmlns:hp="http://schemas.haansoft.com/office/presentation/8.0" kumimoji="0" lang="ko-KR" altLang="en-US" sz="19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순으로 전압 변화</a:t>
            </a:r>
            <a:endParaRPr xmlns:mc="http://schemas.openxmlformats.org/markup-compatibility/2006" xmlns:hp="http://schemas.haansoft.com/office/presentation/8.0" kumimoji="0" lang="ko-KR" altLang="en-US" sz="1900" i="0" u="none" strike="noStrike" kern="1200" cap="none" spc="0" normalizeH="0" baseline="0" mc:Ignorable="hp" hp:hslEmbossed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5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※</a:t>
            </a:r>
            <a:r>
              <a:rPr xmlns:mc="http://schemas.openxmlformats.org/markup-compatibility/2006" xmlns:hp="http://schemas.haansoft.com/office/presentation/8.0" kumimoji="0" lang="ko-KR" altLang="en-US" sz="15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최대 전압이 </a:t>
            </a:r>
            <a:r>
              <a:rPr xmlns:mc="http://schemas.openxmlformats.org/markup-compatibility/2006" xmlns:hp="http://schemas.haansoft.com/office/presentation/8.0" kumimoji="0" lang="en-US" altLang="ko-KR" sz="15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15</a:t>
            </a:r>
            <a:r>
              <a:rPr xmlns:mc="http://schemas.openxmlformats.org/markup-compatibility/2006" xmlns:hp="http://schemas.haansoft.com/office/presentation/8.0" kumimoji="0" lang="ko-KR" altLang="en-US" sz="15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5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</a:t>
            </a:r>
            <a:r>
              <a:rPr xmlns:mc="http://schemas.openxmlformats.org/markup-compatibility/2006" xmlns:hp="http://schemas.haansoft.com/office/presentation/8.0" kumimoji="0" lang="ko-KR" altLang="en-US" sz="15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이므로 </a:t>
            </a:r>
            <a:r>
              <a:rPr xmlns:mc="http://schemas.openxmlformats.org/markup-compatibility/2006" xmlns:hp="http://schemas.haansoft.com/office/presentation/8.0" kumimoji="0" lang="en-US" altLang="ko-KR" sz="15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15 V</a:t>
            </a:r>
            <a:r>
              <a:rPr xmlns:mc="http://schemas.openxmlformats.org/markup-compatibility/2006" xmlns:hp="http://schemas.haansoft.com/office/presentation/8.0" kumimoji="0" lang="ko-KR" altLang="en-US" sz="15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5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sweep</a:t>
            </a:r>
            <a:r>
              <a:rPr xmlns:mc="http://schemas.openxmlformats.org/markup-compatibility/2006" xmlns:hp="http://schemas.haansoft.com/office/presentation/8.0" kumimoji="0" lang="ko-KR" altLang="en-US" sz="15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결과에서 </a:t>
            </a:r>
            <a:r>
              <a:rPr xmlns:mc="http://schemas.openxmlformats.org/markup-compatibility/2006" xmlns:hp="http://schemas.haansoft.com/office/presentation/8.0" kumimoji="0" lang="en-US" altLang="ko-KR" sz="15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Vth</a:t>
            </a:r>
            <a:r>
              <a:rPr xmlns:mc="http://schemas.openxmlformats.org/markup-compatibility/2006" xmlns:hp="http://schemas.haansoft.com/office/presentation/8.0" kumimoji="0" lang="ko-KR" altLang="en-US" sz="15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를 구함</a:t>
            </a:r>
            <a:endParaRPr xmlns:mc="http://schemas.openxmlformats.org/markup-compatibility/2006" xmlns:hp="http://schemas.haansoft.com/office/presentation/8.0" kumimoji="0" lang="ko-KR" altLang="en-US" sz="1500" i="0" u="none" strike="noStrike" kern="1200" cap="none" spc="0" normalizeH="0" baseline="0" mc:Ignorable="hp" hp:hslEmbossed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제목 1"/>
          <p:cNvSpPr/>
          <p:nvPr/>
        </p:nvSpPr>
        <p:spPr>
          <a:xfrm>
            <a:off x="3780371" y="1855736"/>
            <a:ext cx="8080086" cy="2251703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</a:t>
            </a:r>
            <a:r>
              <a:rPr lang="en-US" altLang="ko-KR" b="1" baseline="-240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g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[0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 →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-15 V → 0 V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→ 15 V → 0 V → -15 V] </a:t>
            </a:r>
            <a:endPara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시계 방향으로 그래프가 그려지기 때문에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erase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상태에서의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</a:t>
            </a:r>
            <a:r>
              <a:rPr lang="en-US" altLang="ko-KR" baseline="-240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th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를 구하기 위해선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-15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V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에서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0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V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로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sweep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되는 구간에서의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</a:t>
            </a:r>
            <a:r>
              <a:rPr lang="en-US" altLang="ko-KR" baseline="-240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th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를 구해야 한다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  <a:endPara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⇒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</a:t>
            </a:r>
            <a:r>
              <a:rPr lang="en-US" altLang="ko-KR" baseline="-240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g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가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-15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V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에서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0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V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로 변하는 구간에서 측정된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Drain current I</a:t>
            </a:r>
            <a:r>
              <a:rPr lang="en-US" altLang="ko-KR" baseline="-24000">
                <a:solidFill>
                  <a:srgbClr val="ff0000"/>
                </a:solidFill>
                <a:effectLst/>
                <a:latin typeface="+mj-lt"/>
                <a:ea typeface="+mj-ea"/>
                <a:cs typeface="+mj-cs"/>
              </a:rPr>
              <a:t>d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가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altLang="ko-KR" baseline="-24000">
                <a:solidFill>
                  <a:srgbClr val="ff0000"/>
                </a:solidFill>
                <a:effectLst/>
                <a:latin typeface="+mj-lt"/>
                <a:ea typeface="+mj-ea"/>
                <a:cs typeface="+mj-cs"/>
              </a:rPr>
              <a:t>ref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일 때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를 찾아야 함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!</a:t>
            </a:r>
            <a:endPara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8" name=""/>
          <p:cNvGrpSpPr>
            <a:grpSpLocks/>
          </p:cNvGrpSpPr>
          <p:nvPr/>
        </p:nvGrpSpPr>
        <p:grpSpPr>
          <a:xfrm rot="0">
            <a:off x="231725" y="1664026"/>
            <a:ext cx="3849049" cy="3006202"/>
            <a:chOff x="231726" y="1664025"/>
            <a:chExt cx="3599445" cy="2944169"/>
          </a:xfrm>
        </p:grpSpPr>
        <p:graphicFrame>
          <p:nvGraphicFramePr>
            <p:cNvPr id="6" name="개체 5"/>
            <p:cNvGraphicFramePr>
              <a:graphicFrameLocks noChangeAspect="1"/>
            </p:cNvGraphicFramePr>
            <p:nvPr/>
          </p:nvGraphicFramePr>
          <p:xfrm>
            <a:off x="231726" y="1664025"/>
            <a:ext cx="3599445" cy="2755636"/>
          </p:xfrm>
          <a:graphic>
            <a:graphicData uri="http://schemas.openxmlformats.org/presentationml/2006/ole">
              <p:oleObj spid="_x0000_s15376" name="Graph" r:id="rId3" imgW="3772246" imgH="2887287" progId="Origin95.Graph">
                <p:embed/>
              </p:oleObj>
            </a:graphicData>
          </a:graphic>
        </p:graphicFrame>
        <p:sp>
          <p:nvSpPr>
            <p:cNvPr id="7" name="타원 6"/>
            <p:cNvSpPr/>
            <p:nvPr/>
          </p:nvSpPr>
          <p:spPr>
            <a:xfrm>
              <a:off x="1371599" y="3526847"/>
              <a:ext cx="415636" cy="40697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  <p:cxnSp>
          <p:nvCxnSpPr>
            <p:cNvPr id="8" name="화살표 7"/>
            <p:cNvCxnSpPr/>
            <p:nvPr/>
          </p:nvCxnSpPr>
          <p:spPr>
            <a:xfrm rot="16200000">
              <a:off x="1407027" y="4209171"/>
              <a:ext cx="344782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가로 글상자 15"/>
            <p:cNvSpPr txBox="1"/>
            <p:nvPr/>
          </p:nvSpPr>
          <p:spPr>
            <a:xfrm>
              <a:off x="543656" y="4364647"/>
              <a:ext cx="2614100" cy="23876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>
                <a:defRPr/>
              </a:pPr>
              <a:r>
                <a:rPr lang="ko-KR" altLang="en-US" sz="1000" b="1">
                  <a:solidFill>
                    <a:srgbClr val="ff0000"/>
                  </a:solidFill>
                </a:rPr>
                <a:t>여기서의 </a:t>
              </a:r>
              <a:r>
                <a:rPr lang="en-US" altLang="ko-KR" sz="1000" b="1">
                  <a:solidFill>
                    <a:srgbClr val="ff0000"/>
                  </a:solidFill>
                </a:rPr>
                <a:t>V</a:t>
              </a:r>
              <a:r>
                <a:rPr lang="en-US" altLang="ko-KR" sz="1000" b="1" baseline="-24000">
                  <a:solidFill>
                    <a:srgbClr val="ff0000"/>
                  </a:solidFill>
                  <a:effectLst/>
                </a:rPr>
                <a:t>th</a:t>
              </a:r>
              <a:r>
                <a:rPr lang="ko-KR" altLang="en-US" sz="1000" b="1">
                  <a:solidFill>
                    <a:srgbClr val="ff0000"/>
                  </a:solidFill>
                </a:rPr>
                <a:t>를 구하고자 하는 것</a:t>
              </a:r>
              <a:r>
                <a:rPr lang="en-US" altLang="ko-KR" sz="1000" b="1">
                  <a:solidFill>
                    <a:srgbClr val="ff0000"/>
                  </a:solidFill>
                </a:rPr>
                <a:t>(erase)</a:t>
              </a:r>
              <a:r>
                <a:rPr lang="ko-KR" altLang="en-US" sz="1000" b="1">
                  <a:solidFill>
                    <a:srgbClr val="ff0000"/>
                  </a:solidFill>
                </a:rPr>
                <a:t> </a:t>
              </a:r>
              <a:endParaRPr lang="ko-KR" altLang="en-US" sz="1000" b="1">
                <a:solidFill>
                  <a:srgbClr val="ff0000"/>
                </a:solidFill>
              </a:endParaRPr>
            </a:p>
          </p:txBody>
        </p:sp>
        <p:grpSp>
          <p:nvGrpSpPr>
            <p:cNvPr id="26" name=""/>
            <p:cNvGrpSpPr/>
            <p:nvPr/>
          </p:nvGrpSpPr>
          <p:grpSpPr>
            <a:xfrm rot="0">
              <a:off x="989305" y="1966861"/>
              <a:ext cx="2284647" cy="1995267"/>
              <a:chOff x="3878599" y="3545508"/>
              <a:chExt cx="2423192" cy="2157048"/>
            </a:xfrm>
          </p:grpSpPr>
          <p:sp>
            <p:nvSpPr>
              <p:cNvPr id="21" name="이등변 삼각형 20"/>
              <p:cNvSpPr/>
              <p:nvPr/>
            </p:nvSpPr>
            <p:spPr>
              <a:xfrm rot="14380681">
                <a:off x="4796876" y="5592451"/>
                <a:ext cx="81569" cy="138640"/>
              </a:xfrm>
              <a:prstGeom prst="triangle">
                <a:avLst>
                  <a:gd name="adj" fmla="val 64730"/>
                </a:avLst>
              </a:prstGeom>
              <a:solidFill>
                <a:srgbClr val="783e94"/>
              </a:solidFill>
              <a:ln>
                <a:solidFill>
                  <a:srgbClr val="783e94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lvl="0" algn="ctr">
                  <a:defRPr/>
                </a:pPr>
                <a:endParaRPr lang="ko-KR" altLang="en-US"/>
              </a:p>
            </p:txBody>
          </p:sp>
          <p:sp>
            <p:nvSpPr>
              <p:cNvPr id="25" name="자유형 24"/>
              <p:cNvSpPr/>
              <p:nvPr/>
            </p:nvSpPr>
            <p:spPr>
              <a:xfrm>
                <a:off x="3878599" y="3545508"/>
                <a:ext cx="2423191" cy="2125373"/>
              </a:xfrm>
              <a:custGeom>
                <a:avLst/>
                <a:gdLst>
                  <a:gd name="connsiteX0" fmla="*/ -4786 w 2423191"/>
                  <a:gd name="connsiteY0" fmla="*/ 1856927 h 2125373"/>
                  <a:gd name="connsiteX1" fmla="*/ 454145 w 2423191"/>
                  <a:gd name="connsiteY1" fmla="*/ 1848267 h 2125373"/>
                  <a:gd name="connsiteX2" fmla="*/ 1008326 w 2423191"/>
                  <a:gd name="connsiteY2" fmla="*/ 1423971 h 2125373"/>
                  <a:gd name="connsiteX3" fmla="*/ 1701054 w 2423191"/>
                  <a:gd name="connsiteY3" fmla="*/ 497449 h 2125373"/>
                  <a:gd name="connsiteX4" fmla="*/ 2082054 w 2423191"/>
                  <a:gd name="connsiteY4" fmla="*/ 99131 h 2125373"/>
                  <a:gd name="connsiteX5" fmla="*/ 2324508 w 2423191"/>
                  <a:gd name="connsiteY5" fmla="*/ 12540 h 2125373"/>
                  <a:gd name="connsiteX6" fmla="*/ 2393781 w 2423191"/>
                  <a:gd name="connsiteY6" fmla="*/ 306949 h 2125373"/>
                  <a:gd name="connsiteX7" fmla="*/ 1865577 w 2423191"/>
                  <a:gd name="connsiteY7" fmla="*/ 1268108 h 2125373"/>
                  <a:gd name="connsiteX8" fmla="*/ 1242122 w 2423191"/>
                  <a:gd name="connsiteY8" fmla="*/ 1934858 h 2125373"/>
                  <a:gd name="connsiteX9" fmla="*/ 930395 w 2423191"/>
                  <a:gd name="connsiteY9" fmla="*/ 2125358 h 2125373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23191" h="2125373">
                    <a:moveTo>
                      <a:pt x="-4786" y="1856927"/>
                    </a:moveTo>
                    <a:cubicBezTo>
                      <a:pt x="71702" y="1855483"/>
                      <a:pt x="285292" y="1920426"/>
                      <a:pt x="454145" y="1848267"/>
                    </a:cubicBezTo>
                    <a:cubicBezTo>
                      <a:pt x="622997" y="1776108"/>
                      <a:pt x="800508" y="1649107"/>
                      <a:pt x="1008326" y="1423971"/>
                    </a:cubicBezTo>
                    <a:cubicBezTo>
                      <a:pt x="1216145" y="1198835"/>
                      <a:pt x="1522100" y="718256"/>
                      <a:pt x="1701054" y="497449"/>
                    </a:cubicBezTo>
                    <a:cubicBezTo>
                      <a:pt x="1880008" y="276642"/>
                      <a:pt x="1978145" y="179949"/>
                      <a:pt x="2082054" y="99131"/>
                    </a:cubicBezTo>
                    <a:cubicBezTo>
                      <a:pt x="2185963" y="18312"/>
                      <a:pt x="2272554" y="-22096"/>
                      <a:pt x="2324508" y="12540"/>
                    </a:cubicBezTo>
                    <a:cubicBezTo>
                      <a:pt x="2376463" y="47176"/>
                      <a:pt x="2470269" y="97687"/>
                      <a:pt x="2393781" y="306949"/>
                    </a:cubicBezTo>
                    <a:cubicBezTo>
                      <a:pt x="2317292" y="516210"/>
                      <a:pt x="2057520" y="996789"/>
                      <a:pt x="1865577" y="1268108"/>
                    </a:cubicBezTo>
                    <a:cubicBezTo>
                      <a:pt x="1673634" y="1539426"/>
                      <a:pt x="1397986" y="1791982"/>
                      <a:pt x="1242122" y="1934858"/>
                    </a:cubicBezTo>
                    <a:cubicBezTo>
                      <a:pt x="1086258" y="2077733"/>
                      <a:pt x="982349" y="2093608"/>
                      <a:pt x="930395" y="2125358"/>
                    </a:cubicBezTo>
                  </a:path>
                </a:pathLst>
              </a:custGeom>
              <a:noFill/>
              <a:ln>
                <a:solidFill>
                  <a:srgbClr val="783e94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lvl="0" algn="ctr">
                  <a:defRPr/>
                </a:pPr>
                <a:endParaRPr lang="ko-KR" altLang="en-US"/>
              </a:p>
            </p:txBody>
          </p:sp>
        </p:grpSp>
        <p:sp>
          <p:nvSpPr>
            <p:cNvPr id="27" name="가로 글상자 26"/>
            <p:cNvSpPr txBox="1"/>
            <p:nvPr/>
          </p:nvSpPr>
          <p:spPr>
            <a:xfrm>
              <a:off x="788212" y="1750818"/>
              <a:ext cx="1433734" cy="203314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>
                <a:defRPr/>
              </a:pPr>
              <a:r>
                <a:rPr lang="en-US" altLang="ko-KR" sz="800" b="1">
                  <a:solidFill>
                    <a:srgbClr val="783e94"/>
                  </a:solidFill>
                </a:rPr>
                <a:t>※</a:t>
              </a:r>
              <a:r>
                <a:rPr lang="ko-KR" altLang="en-US" sz="800" b="1">
                  <a:solidFill>
                    <a:srgbClr val="783e94"/>
                  </a:solidFill>
                </a:rPr>
                <a:t> 그래프 그려지는 방향</a:t>
              </a:r>
              <a:endParaRPr lang="ko-KR" altLang="en-US" sz="800" b="1">
                <a:solidFill>
                  <a:srgbClr val="783e94"/>
                </a:solidFill>
              </a:endParaRPr>
            </a:p>
          </p:txBody>
        </p:sp>
      </p:grpSp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089022" y="4299151"/>
            <a:ext cx="1154921" cy="2764960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5"/>
          <a:srcRect b="18981"/>
          <a:stretch>
            <a:fillRect/>
          </a:stretch>
        </p:blipFill>
        <p:spPr>
          <a:xfrm>
            <a:off x="4322563" y="4299150"/>
            <a:ext cx="1214421" cy="2664761"/>
          </a:xfrm>
          <a:prstGeom prst="rect">
            <a:avLst/>
          </a:prstGeom>
        </p:spPr>
      </p:pic>
      <p:sp>
        <p:nvSpPr>
          <p:cNvPr id="31" name="직사각형 30"/>
          <p:cNvSpPr/>
          <p:nvPr/>
        </p:nvSpPr>
        <p:spPr>
          <a:xfrm>
            <a:off x="3316165" y="4299151"/>
            <a:ext cx="381000" cy="2822619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4493601" y="4299150"/>
            <a:ext cx="381000" cy="2822619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4" name="제목 1"/>
          <p:cNvSpPr/>
          <p:nvPr/>
        </p:nvSpPr>
        <p:spPr>
          <a:xfrm>
            <a:off x="5671038" y="4389387"/>
            <a:ext cx="6189419" cy="2251703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⇒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</a:t>
            </a:r>
            <a:r>
              <a:rPr lang="en-US" altLang="ko-KR" baseline="-240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g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가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-15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V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에서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0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V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로 변하는 구간에서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altLang="ko-KR" baseline="-24000">
                <a:solidFill>
                  <a:schemeClr val="dk1"/>
                </a:solidFill>
                <a:effectLst/>
                <a:latin typeface="+mj-lt"/>
                <a:ea typeface="+mj-ea"/>
                <a:cs typeface="+mj-cs"/>
              </a:rPr>
              <a:t>ref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와가장 근접한 두 값을 찾아 노란색으로 표시해둔 것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.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 이 두 값 사이에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altLang="ko-KR" baseline="-24000">
                <a:solidFill>
                  <a:schemeClr val="dk1"/>
                </a:solidFill>
                <a:effectLst/>
                <a:latin typeface="+mj-lt"/>
                <a:ea typeface="+mj-ea"/>
                <a:cs typeface="+mj-cs"/>
              </a:rPr>
              <a:t>ref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 에 해당하는 값이 포함되어야 함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.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 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여기서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altLang="ko-KR" baseline="-24000">
                <a:solidFill>
                  <a:schemeClr val="dk1"/>
                </a:solidFill>
                <a:effectLst/>
                <a:latin typeface="+mj-lt"/>
                <a:ea typeface="+mj-ea"/>
                <a:cs typeface="+mj-cs"/>
              </a:rPr>
              <a:t>ref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는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1 uA,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uA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에 정확하게 대응하는 측정값이 없음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-&gt;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보간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 활용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)</a:t>
            </a:r>
            <a:endPara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75903440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537835" y="204017"/>
            <a:ext cx="1663066" cy="529590"/>
          </a:xfrm>
        </p:spPr>
        <p:txBody>
          <a:bodyPr>
            <a:noAutofit/>
          </a:bodyPr>
          <a:p>
            <a:pPr lvl="0" algn="l">
              <a:defRPr/>
            </a:pPr>
            <a:r>
              <a:rPr lang="en-US" altLang="ko-KR" sz="2900" b="1"/>
              <a:t>V</a:t>
            </a:r>
            <a:r>
              <a:rPr lang="en-US" altLang="ko-KR" sz="2900" b="1" baseline="-24000">
                <a:effectLst/>
              </a:rPr>
              <a:t>th</a:t>
            </a:r>
            <a:r>
              <a:rPr lang="en-US" altLang="ko-KR" sz="2900" b="1"/>
              <a:t> -CCM</a:t>
            </a:r>
            <a:endParaRPr lang="en-US" altLang="ko-KR" sz="2900" b="1"/>
          </a:p>
        </p:txBody>
      </p:sp>
      <p:sp>
        <p:nvSpPr>
          <p:cNvPr id="4" name="제목 1"/>
          <p:cNvSpPr/>
          <p:nvPr/>
        </p:nvSpPr>
        <p:spPr>
          <a:xfrm>
            <a:off x="537835" y="874662"/>
            <a:ext cx="11092916" cy="1566017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90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앞 설명에서도 확인할 수 있듯이 측정된 </a:t>
            </a:r>
            <a:r>
              <a:rPr xmlns:mc="http://schemas.openxmlformats.org/markup-compatibility/2006" xmlns:hp="http://schemas.haansoft.com/office/presentation/8.0" kumimoji="0" lang="en-US" altLang="ko-KR" sz="190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I</a:t>
            </a:r>
            <a:r>
              <a:rPr lang="en-US" altLang="ko-KR" sz="1900" baseline="-24000">
                <a:solidFill>
                  <a:schemeClr val="tx1"/>
                </a:solidFill>
                <a:effectLst/>
                <a:latin typeface="맑은 고딕"/>
                <a:cs typeface="+mj-cs"/>
              </a:rPr>
              <a:t>d</a:t>
            </a:r>
            <a:r>
              <a:rPr xmlns:mc="http://schemas.openxmlformats.org/markup-compatibility/2006" xmlns:hp="http://schemas.haansoft.com/office/presentation/8.0" kumimoji="0" lang="ko-KR" altLang="en-US" sz="190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가 정확히 </a:t>
            </a:r>
            <a:r>
              <a:rPr xmlns:mc="http://schemas.openxmlformats.org/markup-compatibility/2006" xmlns:hp="http://schemas.haansoft.com/office/presentation/8.0" kumimoji="0" lang="en-US" altLang="ko-KR" sz="190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I</a:t>
            </a:r>
            <a:r>
              <a:rPr lang="en-US" altLang="ko-KR" sz="1900" baseline="-24000">
                <a:solidFill>
                  <a:schemeClr val="tx1"/>
                </a:solidFill>
                <a:effectLst/>
                <a:latin typeface="맑은 고딕"/>
                <a:cs typeface="+mj-cs"/>
              </a:rPr>
              <a:t>ref</a:t>
            </a:r>
            <a:r>
              <a:rPr xmlns:mc="http://schemas.openxmlformats.org/markup-compatibility/2006" xmlns:hp="http://schemas.haansoft.com/office/presentation/8.0" kumimoji="0" lang="ko-KR" altLang="en-US" sz="190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에 해당하는 데이터로 없을 가능성이 큼</a:t>
            </a:r>
            <a:endParaRPr xmlns:mc="http://schemas.openxmlformats.org/markup-compatibility/2006" xmlns:hp="http://schemas.haansoft.com/office/presentation/8.0" kumimoji="0" lang="en-US" altLang="ko-KR" sz="1900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  <a:cs typeface="+mj-cs"/>
            </a:endParaRPr>
          </a:p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90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→</a:t>
            </a:r>
            <a:r>
              <a:rPr xmlns:mc="http://schemas.openxmlformats.org/markup-compatibility/2006" xmlns:hp="http://schemas.haansoft.com/office/presentation/8.0" kumimoji="0" lang="ko-KR" altLang="en-US" sz="190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90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I</a:t>
            </a:r>
            <a:r>
              <a:rPr lang="en-US" altLang="ko-KR" sz="1900" baseline="-24000">
                <a:solidFill>
                  <a:schemeClr val="tx1"/>
                </a:solidFill>
                <a:effectLst/>
                <a:latin typeface="맑은 고딕"/>
                <a:cs typeface="+mj-cs"/>
              </a:rPr>
              <a:t>ref</a:t>
            </a:r>
            <a:r>
              <a:rPr xmlns:mc="http://schemas.openxmlformats.org/markup-compatibility/2006" xmlns:hp="http://schemas.haansoft.com/office/presentation/8.0" kumimoji="0" lang="ko-KR" altLang="en-US" sz="190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와 가장 가까운 한 값에 해당하는 전압으로 </a:t>
            </a:r>
            <a:r>
              <a:rPr xmlns:mc="http://schemas.openxmlformats.org/markup-compatibility/2006" xmlns:hp="http://schemas.haansoft.com/office/presentation/8.0" kumimoji="0" lang="en-US" altLang="ko-KR" sz="190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V</a:t>
            </a:r>
            <a:r>
              <a:rPr lang="en-US" altLang="ko-KR" sz="1900" baseline="-24000">
                <a:solidFill>
                  <a:schemeClr val="tx1"/>
                </a:solidFill>
                <a:effectLst/>
                <a:latin typeface="맑은 고딕"/>
                <a:cs typeface="+mj-cs"/>
              </a:rPr>
              <a:t>th</a:t>
            </a:r>
            <a:r>
              <a:rPr xmlns:mc="http://schemas.openxmlformats.org/markup-compatibility/2006" xmlns:hp="http://schemas.haansoft.com/office/presentation/8.0" kumimoji="0" lang="ko-KR" altLang="en-US" sz="190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를 구하기 보다 </a:t>
            </a:r>
            <a:r>
              <a:rPr xmlns:mc="http://schemas.openxmlformats.org/markup-compatibility/2006" xmlns:hp="http://schemas.haansoft.com/office/presentation/8.0" kumimoji="0" lang="ko-KR" altLang="en-US" sz="1900" i="0" u="sng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두 측정점 사이의 값을 계산하여 </a:t>
            </a:r>
            <a:r>
              <a:rPr xmlns:mc="http://schemas.openxmlformats.org/markup-compatibility/2006" xmlns:hp="http://schemas.haansoft.com/office/presentation/8.0" kumimoji="0" lang="en-US" altLang="ko-KR" sz="1900" i="0" u="sng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V</a:t>
            </a:r>
            <a:r>
              <a:rPr lang="en-US" altLang="ko-KR" sz="1900" u="sng" baseline="-24000">
                <a:solidFill>
                  <a:schemeClr val="tx1"/>
                </a:solidFill>
                <a:effectLst/>
                <a:latin typeface="맑은 고딕"/>
                <a:cs typeface="+mj-cs"/>
              </a:rPr>
              <a:t>th</a:t>
            </a:r>
            <a:r>
              <a:rPr xmlns:mc="http://schemas.openxmlformats.org/markup-compatibility/2006" xmlns:hp="http://schemas.haansoft.com/office/presentation/8.0" kumimoji="0" lang="ko-KR" altLang="en-US" sz="1900" i="0" u="sng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를 추정하는 </a:t>
            </a:r>
            <a:r>
              <a:rPr xmlns:mc="http://schemas.openxmlformats.org/markup-compatibility/2006" xmlns:hp="http://schemas.haansoft.com/office/presentation/8.0" kumimoji="0" lang="en-US" altLang="ko-KR" sz="1900" i="0" u="sng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cs typeface="+mj-cs"/>
              </a:rPr>
              <a:t>interpolation(</a:t>
            </a:r>
            <a:r>
              <a:rPr xmlns:mc="http://schemas.openxmlformats.org/markup-compatibility/2006" xmlns:hp="http://schemas.haansoft.com/office/presentation/8.0" kumimoji="0" lang="ko-KR" altLang="en-US" sz="1900" i="0" u="sng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cs typeface="+mj-cs"/>
              </a:rPr>
              <a:t>보간</a:t>
            </a:r>
            <a:r>
              <a:rPr xmlns:mc="http://schemas.openxmlformats.org/markup-compatibility/2006" xmlns:hp="http://schemas.haansoft.com/office/presentation/8.0" kumimoji="0" lang="en-US" altLang="ko-KR" sz="1900" i="0" u="sng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cs typeface="+mj-cs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1900" i="0" u="sng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을</a:t>
            </a:r>
            <a:r>
              <a:rPr xmlns:mc="http://schemas.openxmlformats.org/markup-compatibility/2006" xmlns:hp="http://schemas.haansoft.com/office/presentation/8.0" kumimoji="0" lang="en-US" altLang="ko-KR" sz="1900" i="0" u="sng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900" i="0" u="sng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통해서 오차를 줄인다</a:t>
            </a:r>
            <a:r>
              <a:rPr xmlns:mc="http://schemas.openxmlformats.org/markup-compatibility/2006" xmlns:hp="http://schemas.haansoft.com/office/presentation/8.0" kumimoji="0" lang="en-US" altLang="ko-KR" sz="1900" i="0" u="sng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.</a:t>
            </a:r>
            <a:endParaRPr xmlns:mc="http://schemas.openxmlformats.org/markup-compatibility/2006" xmlns:hp="http://schemas.haansoft.com/office/presentation/8.0" kumimoji="0" lang="en-US" altLang="ko-KR" sz="1900" i="0" u="none" strike="noStrike" kern="1200" cap="none" spc="0" normalizeH="0" baseline="0" mc:Ignorable="hp" hp:hslEmbossed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5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※</a:t>
            </a:r>
            <a:r>
              <a:rPr xmlns:mc="http://schemas.openxmlformats.org/markup-compatibility/2006" xmlns:hp="http://schemas.haansoft.com/office/presentation/8.0" kumimoji="0" lang="ko-KR" altLang="en-US" sz="15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측정 시</a:t>
            </a:r>
            <a:r>
              <a:rPr xmlns:mc="http://schemas.openxmlformats.org/markup-compatibility/2006" xmlns:hp="http://schemas.haansoft.com/office/presentation/8.0" kumimoji="0" lang="en-US" altLang="ko-KR" sz="15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5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모든 전압에 대한 전류값을 측정할 수 없음</a:t>
            </a:r>
            <a:r>
              <a:rPr xmlns:mc="http://schemas.openxmlformats.org/markup-compatibility/2006" xmlns:hp="http://schemas.haansoft.com/office/presentation/8.0" kumimoji="0" lang="en-US" altLang="ko-KR" sz="15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  <a:r>
              <a:rPr xmlns:mc="http://schemas.openxmlformats.org/markup-compatibility/2006" xmlns:hp="http://schemas.haansoft.com/office/presentation/8.0" kumimoji="0" lang="ko-KR" altLang="en-US" sz="15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게이트 전압 </a:t>
            </a:r>
            <a:r>
              <a:rPr xmlns:mc="http://schemas.openxmlformats.org/markup-compatibility/2006" xmlns:hp="http://schemas.haansoft.com/office/presentation/8.0" kumimoji="0" lang="en-US" altLang="ko-KR" sz="15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Vg</a:t>
            </a:r>
            <a:r>
              <a:rPr xmlns:mc="http://schemas.openxmlformats.org/markup-compatibility/2006" xmlns:hp="http://schemas.haansoft.com/office/presentation/8.0" kumimoji="0" lang="ko-KR" altLang="en-US" sz="15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를</a:t>
            </a:r>
            <a:r>
              <a:rPr xmlns:mc="http://schemas.openxmlformats.org/markup-compatibility/2006" xmlns:hp="http://schemas.haansoft.com/office/presentation/8.0" kumimoji="0" lang="en-US" altLang="ko-KR" sz="15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5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일정한 간격으로 변화시키며 측정함</a:t>
            </a:r>
            <a:r>
              <a:rPr xmlns:mc="http://schemas.openxmlformats.org/markup-compatibility/2006" xmlns:hp="http://schemas.haansoft.com/office/presentation/8.0" kumimoji="0" lang="en-US" altLang="ko-KR" sz="150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  <a:endParaRPr xmlns:mc="http://schemas.openxmlformats.org/markup-compatibility/2006" xmlns:hp="http://schemas.haansoft.com/office/presentation/8.0" kumimoji="0" lang="en-US" altLang="ko-KR" sz="1500" i="0" u="none" strike="noStrike" kern="1200" cap="none" spc="0" normalizeH="0" baseline="0" mc:Ignorable="hp" hp:hslEmbossed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제목 1"/>
          <p:cNvSpPr/>
          <p:nvPr/>
        </p:nvSpPr>
        <p:spPr>
          <a:xfrm>
            <a:off x="168542" y="2668325"/>
            <a:ext cx="8486530" cy="3652857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cs typeface="+mj-cs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cs typeface="+mj-cs"/>
              </a:rPr>
              <a:t> 선형 보간</a:t>
            </a:r>
            <a:r>
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cs typeface="+mj-cs"/>
              </a:rPr>
              <a:t>(Linear interpolation)</a:t>
            </a:r>
            <a:endPara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cs typeface="+mj-cs"/>
            </a:endParaRPr>
          </a:p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두 측정점 사이에서 전류가 직선적으로 변한다고 가정한 계산 방법</a:t>
            </a:r>
            <a:endPara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  <a:cs typeface="+mj-cs"/>
            </a:endParaRPr>
          </a:p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  <a:cs typeface="+mj-cs"/>
            </a:endParaRPr>
          </a:p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 수식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:</a:t>
            </a:r>
            <a:endPara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  <a:cs typeface="+mj-cs"/>
            </a:endParaRPr>
          </a:p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 </a:t>
            </a:r>
            <a:endPara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  <a:cs typeface="+mj-cs"/>
            </a:endParaRPr>
          </a:p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- </a:t>
            </a: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로그 보간</a:t>
            </a:r>
            <a:r>
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(Log interpolation)</a:t>
            </a:r>
            <a:endPara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  <a:cs typeface="+mj-cs"/>
            </a:endParaRPr>
          </a:p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 전류 자체가 아닌 전류의 로그값을 직선으로 보고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I</a:t>
            </a:r>
            <a:r>
              <a:rPr lang="en-US" altLang="ko-KR" baseline="-24000">
                <a:solidFill>
                  <a:schemeClr val="tx1"/>
                </a:solidFill>
                <a:effectLst/>
                <a:latin typeface="맑은 고딕"/>
                <a:cs typeface="+mj-cs"/>
              </a:rPr>
              <a:t>ref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가 되는 위치를 찾는 방법</a:t>
            </a:r>
            <a:endPara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  <a:cs typeface="+mj-cs"/>
            </a:endParaRPr>
          </a:p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  <a:cs typeface="+mj-cs"/>
            </a:endParaRPr>
          </a:p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 수식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j-cs"/>
              </a:rPr>
              <a:t> </a:t>
            </a:r>
            <a:endPara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자유형 6"/>
              <p:cNvSpPr/>
              <p:nvPr/>
            </p:nvSpPr>
            <p:spPr>
              <a:xfrm>
                <a:off x="988368" y="3673460"/>
                <a:ext cx="3486150" cy="790575"/>
              </a:xfrm>
              <a:custGeom>
                <a:avLst/>
                <a:gd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 xmlns:m="http://schemas.openxmlformats.org/officeDocument/2006/math" xmlns:mc="http://schemas.openxmlformats.org/markup-compatibility/2006" xmlns:ho="http://schemas.haansoft.com/office/8.0" mc:Ignorable="ho" ho:hncCreate="1">
                  <m:oMathPara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000" i="1">
                              <a:latin typeface="Cambria Math"/>
                              <a:sym typeface="Cambria Math"/>
                            </a:rPr>
                          </m:ctrlPr>
                        </m:sSubPr>
                        <m:e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𝑉</m:t>
                          </m:r>
                        </m:e>
                        <m:sub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𝑡</m:t>
                          </m:r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ℎ</m:t>
                          </m:r>
                        </m:sub>
                      </m:sSub>
                      <m:r>
                        <a:rPr sz="2000">
                          <a:latin typeface="Cambria Math"/>
                          <a:sym typeface="Cambria Math"/>
                        </a:rPr>
                        <m:t xml:space="preserve"> = </m:t>
                      </m:r>
                      <m:sSub>
                        <m:sSubPr>
                          <m:ctrlPr>
                            <a:rPr sz="2000" i="1">
                              <a:latin typeface="Cambria Math"/>
                              <a:sym typeface="Cambria Math"/>
                            </a:rPr>
                          </m:ctrlPr>
                        </m:sSubPr>
                        <m:e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𝑉</m:t>
                          </m:r>
                        </m:e>
                        <m:sub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</m:sSub>
                      <m:r>
                        <a:rPr sz="2000" i="1">
                          <a:latin typeface="Cambria Math"/>
                          <a:sym typeface="Cambria Math"/>
                        </a:rPr>
                        <m:t>+(</m:t>
                      </m:r>
                      <m:sSub>
                        <m:sSubPr>
                          <m:ctrlPr>
                            <a:rPr sz="2000" i="1">
                              <a:latin typeface="Cambria Math"/>
                              <a:sym typeface="Cambria Math"/>
                            </a:rPr>
                          </m:ctrlPr>
                        </m:sSubPr>
                        <m:e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𝑉</m:t>
                          </m:r>
                        </m:e>
                        <m:sub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</m:sSub>
                      <m:r>
                        <a:rPr sz="2000" i="1">
                          <a:latin typeface="Cambria Math"/>
                          <a:sym typeface="Cambria Math"/>
                        </a:rPr>
                        <m:t>-</m:t>
                      </m:r>
                      <m:sSub>
                        <m:sSubPr>
                          <m:ctrlPr>
                            <a:rPr sz="2000" i="1">
                              <a:latin typeface="Cambria Math"/>
                              <a:sym typeface="Cambria Math"/>
                            </a:rPr>
                          </m:ctrlPr>
                        </m:sSubPr>
                        <m:e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𝑉</m:t>
                          </m:r>
                        </m:e>
                        <m:sub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</m:sSub>
                      <m:r>
                        <a:rPr sz="2000" i="1">
                          <a:latin typeface="Cambria Math"/>
                          <a:sym typeface="Cambria Math"/>
                        </a:rPr>
                        <m:t>)</m:t>
                      </m:r>
                      <m:f>
                        <m:fPr>
                          <m:ctrlPr>
                            <a:rPr sz="2000" i="1">
                              <a:latin typeface="Cambria Math"/>
                              <a:sym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sz="2000" i="1">
                                  <a:latin typeface="Cambria Math"/>
                                  <a:sym typeface="Cambria Math"/>
                                </a:rPr>
                              </m:ctrlPr>
                            </m:sSubPr>
                            <m:e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𝑟</m:t>
                              </m:r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𝑒</m:t>
                              </m:r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𝑓</m:t>
                              </m:r>
                            </m:sub>
                          </m:sSub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-</m:t>
                          </m:r>
                          <m:sSub>
                            <m:sSubPr>
                              <m:ctrlPr>
                                <a:rPr sz="2000" i="1">
                                  <a:latin typeface="Cambria Math"/>
                                  <a:sym typeface="Cambria Math"/>
                                </a:rPr>
                              </m:ctrlPr>
                            </m:sSubPr>
                            <m:e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sz="2000" i="1">
                                  <a:latin typeface="Cambria Math"/>
                                  <a:sym typeface="Cambria Math"/>
                                </a:rPr>
                              </m:ctrlPr>
                            </m:sSubPr>
                            <m:e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-</m:t>
                          </m:r>
                          <m:sSub>
                            <m:sSubPr>
                              <m:ctrlPr>
                                <a:rPr sz="2000" i="1">
                                  <a:latin typeface="Cambria Math"/>
                                  <a:sym typeface="Cambria Math"/>
                                </a:rPr>
                              </m:ctrlPr>
                            </m:sSubPr>
                            <m:e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7" name=""/>
              <p:cNvSpPr txBox="1"/>
              <p:nvPr/>
            </p:nvSpPr>
            <p:spPr>
              <a:xfrm>
                <a:off x="988368" y="3673460"/>
                <a:ext cx="3486150" cy="7905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자유형 7"/>
              <p:cNvSpPr/>
              <p:nvPr/>
            </p:nvSpPr>
            <p:spPr>
              <a:xfrm>
                <a:off x="988368" y="5725391"/>
                <a:ext cx="5067300" cy="828675"/>
              </a:xfrm>
              <a:custGeom>
                <a:avLst/>
                <a:gd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 xmlns:m="http://schemas.openxmlformats.org/officeDocument/2006/math" xmlns:mc="http://schemas.openxmlformats.org/markup-compatibility/2006" xmlns:ho="http://schemas.haansoft.com/office/8.0" mc:Ignorable="ho" ho:hncCreate="1">
                  <m:oMathPara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000" i="1">
                              <a:latin typeface="Cambria Math"/>
                              <a:sym typeface="Cambria Math"/>
                            </a:rPr>
                          </m:ctrlPr>
                        </m:sSubPr>
                        <m:e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𝑉</m:t>
                          </m:r>
                        </m:e>
                        <m:sub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𝑡</m:t>
                          </m:r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ℎ</m:t>
                          </m:r>
                        </m:sub>
                      </m:sSub>
                      <m:r>
                        <a:rPr sz="2000">
                          <a:latin typeface="Cambria Math"/>
                          <a:sym typeface="Cambria Math"/>
                        </a:rPr>
                        <m:t xml:space="preserve"> = </m:t>
                      </m:r>
                      <m:sSub>
                        <m:sSubPr>
                          <m:ctrlPr>
                            <a:rPr sz="2000" i="1">
                              <a:latin typeface="Cambria Math"/>
                              <a:sym typeface="Cambria Math"/>
                            </a:rPr>
                          </m:ctrlPr>
                        </m:sSubPr>
                        <m:e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𝑉</m:t>
                          </m:r>
                        </m:e>
                        <m:sub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</m:sSub>
                      <m:r>
                        <a:rPr sz="2000" i="1">
                          <a:latin typeface="Cambria Math"/>
                          <a:sym typeface="Cambria Math"/>
                        </a:rPr>
                        <m:t>+(</m:t>
                      </m:r>
                      <m:sSub>
                        <m:sSubPr>
                          <m:ctrlPr>
                            <a:rPr sz="2000" i="1">
                              <a:latin typeface="Cambria Math"/>
                              <a:sym typeface="Cambria Math"/>
                            </a:rPr>
                          </m:ctrlPr>
                        </m:sSubPr>
                        <m:e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𝑉</m:t>
                          </m:r>
                        </m:e>
                        <m:sub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</m:sSub>
                      <m:r>
                        <a:rPr sz="2000" i="1">
                          <a:latin typeface="Cambria Math"/>
                          <a:sym typeface="Cambria Math"/>
                        </a:rPr>
                        <m:t>-</m:t>
                      </m:r>
                      <m:sSub>
                        <m:sSubPr>
                          <m:ctrlPr>
                            <a:rPr sz="2000" i="1">
                              <a:latin typeface="Cambria Math"/>
                              <a:sym typeface="Cambria Math"/>
                            </a:rPr>
                          </m:ctrlPr>
                        </m:sSubPr>
                        <m:e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𝑉</m:t>
                          </m:r>
                        </m:e>
                        <m:sub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</m:sSub>
                      <m:r>
                        <a:rPr sz="2000" i="1">
                          <a:latin typeface="Cambria Math"/>
                          <a:sym typeface="Cambria Math"/>
                        </a:rPr>
                        <m:t>)</m:t>
                      </m:r>
                      <m:f>
                        <m:fPr>
                          <m:ctrlPr>
                            <a:rPr sz="2000" i="1">
                              <a:latin typeface="Cambria Math"/>
                              <a:sym typeface="Cambria Math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sz="2000" i="1">
                                  <a:latin typeface="Cambria Math"/>
                                  <a:sym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sz="2000" i="1">
                                      <a:latin typeface="Cambria Math"/>
                                      <a:sym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sz="2000" i="0">
                                      <a:latin typeface="Cambria Math"/>
                                      <a:sym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sz="2000" i="0">
                                      <a:latin typeface="Cambria Math"/>
                                      <a:sym typeface="Cambria Math"/>
                                    </a:rPr>
                                    <m:t>10</m:t>
                                  </m:r>
                                </m:sub>
                              </m:sSub>
                            </m:fName>
                            <m:e>
                              <m:sSub>
                                <m:sSubPr>
                                  <m:ctrlPr>
                                    <a:rPr sz="2000" i="1">
                                      <a:latin typeface="Cambria Math"/>
                                      <a:sym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sz="2000" i="1">
                                      <a:latin typeface="Cambria Math"/>
                                      <a:sym typeface="Cambria Math"/>
                                    </a:rPr>
                                    <m:t>(</m:t>
                                  </m:r>
                                  <m:r>
                                    <a:rPr sz="2000" i="1">
                                      <a:latin typeface="Cambria Math"/>
                                      <a:sym typeface="Cambria Math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sz="2000" i="1">
                                      <a:latin typeface="Cambria Math"/>
                                      <a:sym typeface="Cambria Math"/>
                                    </a:rPr>
                                    <m:t>𝑟</m:t>
                                  </m:r>
                                  <m:r>
                                    <a:rPr sz="2000" i="1">
                                      <a:latin typeface="Cambria Math"/>
                                      <a:sym typeface="Cambria Math"/>
                                    </a:rPr>
                                    <m:t>𝑒</m:t>
                                  </m:r>
                                  <m:r>
                                    <a:rPr sz="2000" i="1">
                                      <a:latin typeface="Cambria Math"/>
                                      <a:sym typeface="Cambria Math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)</m:t>
                              </m:r>
                            </m:e>
                          </m:func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-</m:t>
                          </m:r>
                          <m:sSub>
                            <m:sSubPr>
                              <m:ctrlPr>
                                <a:rPr sz="2000" i="1">
                                  <a:latin typeface="Cambria Math"/>
                                  <a:sym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sz="2000" i="0">
                                  <a:latin typeface="Cambria Math"/>
                                  <a:sym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sz="2000" i="0">
                                  <a:latin typeface="Cambria Math"/>
                                  <a:sym typeface="Cambria Math"/>
                                </a:rPr>
                                <m:t>10</m:t>
                              </m:r>
                            </m:sub>
                          </m:sSub>
                          <m:sSub>
                            <m:sSubPr>
                              <m:ctrlPr>
                                <a:rPr sz="2000" i="1">
                                  <a:latin typeface="Cambria Math"/>
                                  <a:sym typeface="Cambria Math"/>
                                </a:rPr>
                              </m:ctrlPr>
                            </m:sSubPr>
                            <m:e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(</m:t>
                              </m:r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sz="2000" i="1">
                                  <a:latin typeface="Cambria Math"/>
                                  <a:sym typeface="Cambria Math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sz="2000" i="1">
                                      <a:latin typeface="Cambria Math"/>
                                      <a:sym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sz="2000" i="0">
                                      <a:latin typeface="Cambria Math"/>
                                      <a:sym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sz="2000" i="0">
                                      <a:latin typeface="Cambria Math"/>
                                      <a:sym typeface="Cambria Math"/>
                                    </a:rPr>
                                    <m:t>10</m:t>
                                  </m:r>
                                </m:sub>
                              </m:sSub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(</m:t>
                              </m:r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)</m:t>
                          </m:r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-</m:t>
                          </m:r>
                          <m:sSub>
                            <m:sSubPr>
                              <m:ctrlPr>
                                <a:rPr sz="2000" i="1">
                                  <a:latin typeface="Cambria Math"/>
                                  <a:sym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sz="2000" i="0">
                                  <a:latin typeface="Cambria Math"/>
                                  <a:sym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sz="2000" i="0">
                                  <a:latin typeface="Cambria Math"/>
                                  <a:sym typeface="Cambria Math"/>
                                </a:rPr>
                                <m:t>10</m:t>
                              </m:r>
                            </m:sub>
                          </m:sSub>
                          <m:sSub>
                            <m:sSubPr>
                              <m:ctrlPr>
                                <a:rPr sz="2000" i="1">
                                  <a:latin typeface="Cambria Math"/>
                                  <a:sym typeface="Cambria Math"/>
                                </a:rPr>
                              </m:ctrlPr>
                            </m:sSubPr>
                            <m:e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(</m:t>
                              </m:r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8" name=""/>
              <p:cNvSpPr txBox="1"/>
              <p:nvPr/>
            </p:nvSpPr>
            <p:spPr>
              <a:xfrm>
                <a:off x="988368" y="5725391"/>
                <a:ext cx="5067300" cy="8286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9" name="직사각형 8"/>
          <p:cNvSpPr/>
          <p:nvPr/>
        </p:nvSpPr>
        <p:spPr>
          <a:xfrm>
            <a:off x="285750" y="3673460"/>
            <a:ext cx="4126057" cy="8212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285750" y="5727535"/>
            <a:ext cx="5658716" cy="8212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grpSp>
        <p:nvGrpSpPr>
          <p:cNvPr id="15" name=""/>
          <p:cNvGrpSpPr/>
          <p:nvPr/>
        </p:nvGrpSpPr>
        <p:grpSpPr>
          <a:xfrm rot="0">
            <a:off x="7931112" y="2668325"/>
            <a:ext cx="4038426" cy="1498476"/>
            <a:chOff x="7931111" y="2668325"/>
            <a:chExt cx="4038426" cy="1498476"/>
          </a:xfrm>
        </p:grpSpPr>
        <p:sp>
          <p:nvSpPr>
            <p:cNvPr id="13" name="제목 1"/>
            <p:cNvSpPr/>
            <p:nvPr/>
          </p:nvSpPr>
          <p:spPr>
            <a:xfrm>
              <a:off x="7931111" y="2668325"/>
              <a:ext cx="3879888" cy="1133061"/>
            </a:xfrm>
            <a:prstGeom prst="rect">
              <a:avLst/>
            </a:prstGeom>
          </p:spPr>
          <p:txBody>
            <a:bodyPr vert="horz" lIns="91440" tIns="45720" rIns="91440" bIns="45720" anchor="ctr">
              <a:noAutofit/>
            </a:bodyPr>
            <a:p>
              <a:pPr marL="0" lvl="0" indent="0" algn="l" defTabSz="914400" rtl="0" eaLnBrk="1" latinLnBrk="1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  <a:solidFill>
                    <a:schemeClr val="dk1"/>
                  </a:solidFill>
                  <a:latin typeface="맑은 고딕"/>
                  <a:cs typeface="+mj-cs"/>
                </a:rPr>
                <a:t>※</a:t>
              </a:r>
              <a:r>
  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  <a:solidFill>
                    <a:schemeClr val="dk1"/>
                  </a:solidFill>
                  <a:latin typeface="맑은 고딕"/>
                  <a:cs typeface="+mj-cs"/>
                </a:rPr>
                <a:t> </a:t>
              </a:r>
              <a:r>
  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  <a:solidFill>
                    <a:schemeClr val="dk1"/>
                  </a:solidFill>
                  <a:latin typeface="맑은 고딕"/>
                  <a:cs typeface="+mj-cs"/>
                </a:rPr>
                <a:t>I</a:t>
              </a:r>
              <a:r>
                <a:rPr lang="en-US" altLang="ko-KR" sz="1600" baseline="-24000">
                  <a:solidFill>
                    <a:schemeClr val="dk1"/>
                  </a:solidFill>
                  <a:effectLst/>
                  <a:latin typeface="맑은 고딕"/>
                  <a:cs typeface="+mj-cs"/>
                </a:rPr>
                <a:t>ref</a:t>
              </a:r>
              <a:r>
  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  <a:solidFill>
                    <a:schemeClr val="dk1"/>
                  </a:solidFill>
                  <a:latin typeface="맑은 고딕"/>
                  <a:cs typeface="+mj-cs"/>
                </a:rPr>
                <a:t>를 사이에 두는 인접한 두 측정점을 </a:t>
              </a:r>
  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chemeClr val="dk1"/>
                </a:solidFill>
                <a:latin typeface="맑은 고딕"/>
                <a:cs typeface="+mj-cs"/>
              </a:endParaRPr>
            </a:p>
            <a:p>
              <a:pPr marL="0" lvl="0" indent="0" algn="l" defTabSz="914400" rtl="0" eaLnBrk="1" latinLnBrk="1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  <a:solidFill>
                    <a:schemeClr val="dk1"/>
                  </a:solidFill>
                  <a:latin typeface="Cambria Math"/>
                  <a:cs typeface="Arial"/>
                </a:rPr>
                <a:t>(V</a:t>
              </a:r>
              <a:r>
                <a:rPr lang="en-US" altLang="ko-KR" b="1" baseline="-24000">
                  <a:solidFill>
                    <a:schemeClr val="dk1"/>
                  </a:solidFill>
                  <a:effectLst/>
                  <a:latin typeface="Cambria Math"/>
                  <a:cs typeface="Arial"/>
                </a:rPr>
                <a:t>1</a:t>
              </a:r>
              <a:r>
  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  <a:solidFill>
                    <a:schemeClr val="dk1"/>
                  </a:solidFill>
                  <a:latin typeface="Cambria Math"/>
                  <a:cs typeface="Arial"/>
                </a:rPr>
                <a:t>,</a:t>
              </a:r>
              <a:r>
  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  <a:solidFill>
                    <a:schemeClr val="dk1"/>
                  </a:solidFill>
                  <a:latin typeface="Cambria Math"/>
                  <a:cs typeface="Arial"/>
                </a:rPr>
                <a:t> </a:t>
              </a:r>
              <a:r>
  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  <a:solidFill>
                    <a:schemeClr val="dk1"/>
                  </a:solidFill>
                  <a:latin typeface="Cambria Math"/>
                  <a:cs typeface="Arial"/>
                </a:rPr>
                <a:t>I</a:t>
              </a:r>
              <a:r>
                <a:rPr lang="en-US" altLang="ko-KR" b="1" baseline="-24000">
                  <a:solidFill>
                    <a:schemeClr val="dk1"/>
                  </a:solidFill>
                  <a:effectLst/>
                  <a:latin typeface="Cambria Math"/>
                  <a:cs typeface="Arial"/>
                </a:rPr>
                <a:t>1</a:t>
              </a:r>
              <a:r>
  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  <a:solidFill>
                    <a:schemeClr val="dk1"/>
                  </a:solidFill>
                  <a:latin typeface="Cambria Math"/>
                  <a:cs typeface="Arial"/>
                </a:rPr>
                <a:t>), (V</a:t>
              </a:r>
              <a:r>
                <a:rPr lang="en-US" altLang="ko-KR" b="1" baseline="-24000">
                  <a:solidFill>
                    <a:schemeClr val="dk1"/>
                  </a:solidFill>
                  <a:effectLst/>
                  <a:latin typeface="Cambria Math"/>
                  <a:cs typeface="Arial"/>
                </a:rPr>
                <a:t>2</a:t>
              </a:r>
              <a:r>
  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  <a:solidFill>
                    <a:schemeClr val="dk1"/>
                  </a:solidFill>
                  <a:latin typeface="Cambria Math"/>
                  <a:cs typeface="Arial"/>
                </a:rPr>
                <a:t>,</a:t>
              </a:r>
              <a:r>
  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  <a:solidFill>
                    <a:schemeClr val="dk1"/>
                  </a:solidFill>
                  <a:latin typeface="Cambria Math"/>
                  <a:cs typeface="Arial"/>
                </a:rPr>
                <a:t> </a:t>
              </a:r>
              <a:r>
  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  <a:solidFill>
                    <a:schemeClr val="dk1"/>
                  </a:solidFill>
                  <a:latin typeface="Cambria Math"/>
                  <a:cs typeface="Arial"/>
                </a:rPr>
                <a:t>I</a:t>
              </a:r>
              <a:r>
                <a:rPr lang="en-US" altLang="ko-KR" b="1" baseline="-24000">
                  <a:solidFill>
                    <a:schemeClr val="dk1"/>
                  </a:solidFill>
                  <a:effectLst/>
                  <a:latin typeface="Cambria Math"/>
                  <a:cs typeface="Arial"/>
                </a:rPr>
                <a:t>2</a:t>
              </a:r>
              <a:r>
  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  <a:solidFill>
                    <a:schemeClr val="dk1"/>
                  </a:solidFill>
                  <a:latin typeface="Cambria Math"/>
                  <a:cs typeface="Arial"/>
                </a:rPr>
                <a:t>)</a:t>
              </a:r>
              <a:r>
                <a:rPr xmlns:mc="http://schemas.openxmlformats.org/markup-compatibility/2006" xmlns:hp="http://schemas.haansoft.com/office/presentation/8.0" kumimoji="0" lang="en-US" altLang="ko-KR" sz="1700" i="0" u="none" strike="noStrike" kern="1200" cap="none" spc="0" normalizeH="0" baseline="0" mc:Ignorable="hp" hp:hslEmbossed="0">
                  <a:solidFill>
                    <a:schemeClr val="dk1"/>
                  </a:solidFill>
                  <a:latin typeface="Arial"/>
                  <a:cs typeface="Arial"/>
                </a:rPr>
                <a:t> </a:t>
              </a:r>
              <a:r>
  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  <a:solidFill>
                    <a:schemeClr val="dk1"/>
                  </a:solidFill>
                  <a:latin typeface="맑은 고딕"/>
                  <a:cs typeface="+mj-cs"/>
                </a:rPr>
                <a:t>라고 함</a:t>
              </a:r>
              <a:r>
  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  <a:solidFill>
                    <a:schemeClr val="dk1"/>
                  </a:solidFill>
                  <a:latin typeface="맑은 고딕"/>
                  <a:cs typeface="+mj-cs"/>
                </a:rPr>
                <a:t>.</a:t>
              </a:r>
              <a:endPara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chemeClr val="dk1"/>
                </a:solidFill>
                <a:latin typeface="맑은 고딕"/>
                <a:cs typeface="+mj-cs"/>
              </a:endParaRPr>
            </a:p>
          </p:txBody>
        </p:sp>
        <p:pic>
          <p:nvPicPr>
            <p:cNvPr id="14" name="그림 13"/>
            <p:cNvPicPr/>
            <p:nvPr/>
          </p:nvPicPr>
          <p:blipFill rotWithShape="1">
            <a:blip r:embed="rId4">
              <a:lum/>
            </a:blip>
            <a:srcRect/>
            <a:stretch>
              <a:fillRect/>
            </a:stretch>
          </p:blipFill>
          <p:spPr>
            <a:xfrm>
              <a:off x="10295043" y="3179318"/>
              <a:ext cx="1674495" cy="499364"/>
            </a:xfrm>
            <a:prstGeom prst="rect">
              <a:avLst/>
            </a:prstGeom>
          </p:spPr>
        </p:pic>
        <p:sp>
          <p:nvSpPr>
            <p:cNvPr id="19" name="제목 1"/>
            <p:cNvSpPr/>
            <p:nvPr/>
          </p:nvSpPr>
          <p:spPr>
            <a:xfrm>
              <a:off x="7931112" y="3709148"/>
              <a:ext cx="3879888" cy="457652"/>
            </a:xfrm>
            <a:prstGeom prst="rect">
              <a:avLst/>
            </a:prstGeom>
          </p:spPr>
          <p:txBody>
            <a:bodyPr vert="horz" lIns="91440" tIns="45720" rIns="91440" bIns="45720" anchor="ctr">
              <a:noAutofit/>
            </a:bodyPr>
            <a:p>
              <a:pPr marL="0" lvl="0" indent="0" algn="l" defTabSz="914400" rtl="0" eaLnBrk="1" latinLnBrk="1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  <a:solidFill>
                    <a:srgbClr val="ff0000"/>
                  </a:solidFill>
                  <a:latin typeface="맑은 고딕"/>
                  <a:cs typeface="+mj-cs"/>
                </a:rPr>
                <a:t>※</a:t>
              </a:r>
              <a:r>
  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  <a:solidFill>
                    <a:srgbClr val="ff0000"/>
                  </a:solidFill>
                  <a:latin typeface="맑은 고딕"/>
                  <a:cs typeface="+mj-cs"/>
                </a:rPr>
                <a:t> </a:t>
              </a:r>
              <a:r>
  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  <a:solidFill>
                    <a:srgbClr val="ff0000"/>
                  </a:solidFill>
                  <a:latin typeface="맑은 고딕"/>
                  <a:cs typeface="+mj-cs"/>
                </a:rPr>
                <a:t>Iref</a:t>
              </a:r>
              <a:r>
  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  <a:solidFill>
                    <a:srgbClr val="ff0000"/>
                  </a:solidFill>
                  <a:latin typeface="맑은 고딕"/>
                  <a:cs typeface="+mj-cs"/>
                </a:rPr>
                <a:t>를 </a:t>
              </a:r>
              <a:r>
  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  <a:solidFill>
                    <a:srgbClr val="ff0000"/>
                  </a:solidFill>
                  <a:latin typeface="맑은 고딕"/>
                  <a:cs typeface="+mj-cs"/>
                </a:rPr>
                <a:t>1 uA</a:t>
              </a:r>
              <a:r>
  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  <a:solidFill>
                    <a:srgbClr val="ff0000"/>
                  </a:solidFill>
                  <a:latin typeface="맑은 고딕"/>
                  <a:cs typeface="+mj-cs"/>
                </a:rPr>
                <a:t>로 정함</a:t>
              </a:r>
              <a:r>
  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  <a:solidFill>
                    <a:srgbClr val="ff0000"/>
                  </a:solidFill>
                  <a:latin typeface="맑은 고딕"/>
                  <a:cs typeface="+mj-cs"/>
                </a:rPr>
                <a:t>.</a:t>
              </a:r>
              <a:endPara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cs typeface="+mj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1079014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346362" y="420494"/>
            <a:ext cx="1663066" cy="529590"/>
          </a:xfrm>
        </p:spPr>
        <p:txBody>
          <a:bodyPr>
            <a:noAutofit/>
          </a:bodyPr>
          <a:p>
            <a:pPr lvl="0" algn="l">
              <a:defRPr/>
            </a:pPr>
            <a:r>
              <a:rPr lang="en-US" altLang="ko-KR" sz="2900" b="1"/>
              <a:t>*</a:t>
            </a:r>
            <a:r>
              <a:rPr lang="ko-KR" altLang="en-US" sz="2900" b="1"/>
              <a:t> 예시</a:t>
            </a:r>
            <a:endParaRPr lang="ko-KR" altLang="en-US" sz="2900" b="1"/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lum/>
          </a:blip>
          <a:srcRect l="963"/>
          <a:stretch>
            <a:fillRect/>
          </a:stretch>
        </p:blipFill>
        <p:spPr>
          <a:xfrm>
            <a:off x="346362" y="1039012"/>
            <a:ext cx="5847671" cy="2871263"/>
          </a:xfrm>
          <a:prstGeom prst="rect">
            <a:avLst/>
          </a:prstGeom>
        </p:spPr>
      </p:pic>
      <p:sp>
        <p:nvSpPr>
          <p:cNvPr id="10" name="제목 1"/>
          <p:cNvSpPr/>
          <p:nvPr/>
        </p:nvSpPr>
        <p:spPr>
          <a:xfrm>
            <a:off x="4092098" y="128422"/>
            <a:ext cx="7507273" cy="910590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-15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V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에서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0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V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로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sweep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되는 구간에서</a:t>
            </a: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altLang="ko-KR" b="1" baseline="-24000">
                <a:solidFill>
                  <a:srgbClr val="ff0000"/>
                </a:solidFill>
                <a:effectLst/>
                <a:latin typeface="+mj-lt"/>
                <a:ea typeface="+mj-ea"/>
                <a:cs typeface="+mj-cs"/>
              </a:rPr>
              <a:t>ref</a:t>
            </a:r>
            <a:r>
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(1</a:t>
            </a: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uA)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를 사이에 두는 두 값을 찾음</a:t>
            </a:r>
            <a:endPara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→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그 때의 전압과 전류값을 활용하여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interpolation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계산</a:t>
            </a:r>
            <a:endPara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1" name="화살표 10"/>
          <p:cNvCxnSpPr/>
          <p:nvPr/>
        </p:nvCxnSpPr>
        <p:spPr>
          <a:xfrm flipV="1">
            <a:off x="5004954" y="2320636"/>
            <a:ext cx="1498023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가로 글상자 11"/>
          <p:cNvSpPr txBox="1"/>
          <p:nvPr/>
        </p:nvSpPr>
        <p:spPr>
          <a:xfrm>
            <a:off x="6780068" y="1376716"/>
            <a:ext cx="3393301" cy="155741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500" b="1">
                <a:solidFill>
                  <a:srgbClr val="ff0000"/>
                </a:solidFill>
              </a:rPr>
              <a:t>두 전류값 사이 </a:t>
            </a:r>
            <a:r>
              <a:rPr lang="en-US" altLang="ko-KR" sz="1500" b="1">
                <a:solidFill>
                  <a:srgbClr val="ff0000"/>
                </a:solidFill>
              </a:rPr>
              <a:t>1</a:t>
            </a:r>
            <a:r>
              <a:rPr lang="ko-KR" altLang="en-US" sz="1500" b="1">
                <a:solidFill>
                  <a:srgbClr val="ff0000"/>
                </a:solidFill>
              </a:rPr>
              <a:t> </a:t>
            </a:r>
            <a:r>
              <a:rPr lang="en-US" altLang="ko-KR" sz="1500" b="1">
                <a:solidFill>
                  <a:srgbClr val="ff0000"/>
                </a:solidFill>
              </a:rPr>
              <a:t>uA</a:t>
            </a:r>
            <a:r>
              <a:rPr lang="ko-KR" altLang="en-US" sz="1500" b="1">
                <a:solidFill>
                  <a:srgbClr val="ff0000"/>
                </a:solidFill>
              </a:rPr>
              <a:t> 가 위치함</a:t>
            </a:r>
            <a:r>
              <a:rPr lang="en-US" altLang="ko-KR" sz="1500" b="1">
                <a:solidFill>
                  <a:srgbClr val="ff0000"/>
                </a:solidFill>
              </a:rPr>
              <a:t>.</a:t>
            </a:r>
            <a:r>
              <a:rPr lang="ko-KR" altLang="en-US" sz="1500" b="1">
                <a:solidFill>
                  <a:srgbClr val="ff0000"/>
                </a:solidFill>
              </a:rPr>
              <a:t> </a:t>
            </a:r>
            <a:endParaRPr lang="ko-KR" altLang="en-US" sz="1500" b="1">
              <a:solidFill>
                <a:srgbClr val="ff0000"/>
              </a:solidFill>
            </a:endParaRPr>
          </a:p>
          <a:p>
            <a:pPr lvl="0">
              <a:defRPr/>
            </a:pPr>
            <a:endParaRPr lang="ko-KR" altLang="en-US" sz="1500" b="1">
              <a:solidFill>
                <a:srgbClr val="ff0000"/>
              </a:solidFill>
            </a:endParaRPr>
          </a:p>
          <a:p>
            <a:pPr lvl="0">
              <a:defRPr/>
            </a:pPr>
            <a:r>
              <a:rPr lang="en-US" altLang="ko-KR" sz="1700" b="1">
                <a:solidFill>
                  <a:srgbClr val="000000"/>
                </a:solidFill>
              </a:rPr>
              <a:t>(V</a:t>
            </a:r>
            <a:r>
              <a:rPr lang="en-US" altLang="ko-KR" sz="1700" b="1" baseline="-24000">
                <a:solidFill>
                  <a:srgbClr val="000000"/>
                </a:solidFill>
                <a:effectLst/>
              </a:rPr>
              <a:t>1</a:t>
            </a:r>
            <a:r>
              <a:rPr lang="en-US" altLang="ko-KR" sz="1700" b="1">
                <a:solidFill>
                  <a:srgbClr val="000000"/>
                </a:solidFill>
              </a:rPr>
              <a:t>, I</a:t>
            </a:r>
            <a:r>
              <a:rPr lang="en-US" altLang="ko-KR" sz="1700" b="1" baseline="-24000">
                <a:solidFill>
                  <a:srgbClr val="000000"/>
                </a:solidFill>
                <a:effectLst/>
              </a:rPr>
              <a:t>1</a:t>
            </a:r>
            <a:r>
              <a:rPr lang="en-US" altLang="ko-KR" sz="1700" b="1">
                <a:solidFill>
                  <a:srgbClr val="000000"/>
                </a:solidFill>
              </a:rPr>
              <a:t>) → (-9.45 V, 8.6754E-7 A)</a:t>
            </a:r>
            <a:endParaRPr lang="en-US" altLang="ko-KR" sz="1700" b="1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altLang="ko-KR" sz="1700" b="1">
                <a:solidFill>
                  <a:srgbClr val="000000"/>
                </a:solidFill>
              </a:rPr>
              <a:t>(V</a:t>
            </a:r>
            <a:r>
              <a:rPr lang="en-US" altLang="ko-KR" sz="1700" b="1" baseline="-24000">
                <a:solidFill>
                  <a:srgbClr val="000000"/>
                </a:solidFill>
                <a:effectLst/>
              </a:rPr>
              <a:t>2</a:t>
            </a:r>
            <a:r>
              <a:rPr lang="en-US" altLang="ko-KR" sz="1700" b="1">
                <a:solidFill>
                  <a:srgbClr val="000000"/>
                </a:solidFill>
              </a:rPr>
              <a:t>, I</a:t>
            </a:r>
            <a:r>
              <a:rPr lang="en-US" altLang="ko-KR" sz="1700" b="1" baseline="-24000">
                <a:solidFill>
                  <a:srgbClr val="000000"/>
                </a:solidFill>
                <a:effectLst/>
              </a:rPr>
              <a:t>2</a:t>
            </a:r>
            <a:r>
              <a:rPr lang="en-US" altLang="ko-KR" sz="1700" b="1">
                <a:solidFill>
                  <a:srgbClr val="000000"/>
                </a:solidFill>
              </a:rPr>
              <a:t>) → (-9.3 V, 1.0686E-6 A)</a:t>
            </a:r>
            <a:endParaRPr lang="en-US" altLang="ko-KR" sz="1700" b="1">
              <a:solidFill>
                <a:srgbClr val="000000"/>
              </a:solidFill>
            </a:endParaRPr>
          </a:p>
          <a:p>
            <a:pPr lvl="0">
              <a:defRPr/>
            </a:pPr>
            <a:endParaRPr lang="en-US" altLang="ko-KR" sz="1700" b="1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ko-KR" altLang="en-US" sz="1500" b="1">
                <a:solidFill>
                  <a:srgbClr val="000000"/>
                </a:solidFill>
              </a:rPr>
              <a:t>해당 값을 식에 대입하여 </a:t>
            </a:r>
            <a:r>
              <a:rPr lang="en-US" altLang="ko-KR" sz="1500" b="1">
                <a:solidFill>
                  <a:srgbClr val="000000"/>
                </a:solidFill>
              </a:rPr>
              <a:t>V</a:t>
            </a:r>
            <a:r>
              <a:rPr lang="en-US" altLang="ko-KR" sz="1500" b="1" baseline="-24000">
                <a:solidFill>
                  <a:srgbClr val="000000"/>
                </a:solidFill>
                <a:effectLst/>
              </a:rPr>
              <a:t>th</a:t>
            </a:r>
            <a:r>
              <a:rPr lang="ko-KR" altLang="en-US" sz="1500" b="1">
                <a:solidFill>
                  <a:srgbClr val="000000"/>
                </a:solidFill>
              </a:rPr>
              <a:t> 추출</a:t>
            </a:r>
            <a:endParaRPr lang="en-US" altLang="ko-KR" sz="1500" b="1">
              <a:solidFill>
                <a:srgbClr val="000000"/>
              </a:solidFill>
            </a:endParaRPr>
          </a:p>
        </p:txBody>
      </p:sp>
      <p:pic>
        <p:nvPicPr>
          <p:cNvPr id="14" name="그림 13"/>
          <p:cNvPicPr/>
          <p:nvPr/>
        </p:nvPicPr>
        <p:blipFill rotWithShape="1">
          <a:blip r:embed="rId3">
            <a:lum/>
          </a:blip>
          <a:srcRect r="6730" b="3487"/>
          <a:stretch>
            <a:fillRect/>
          </a:stretch>
        </p:blipFill>
        <p:spPr>
          <a:xfrm>
            <a:off x="6833402" y="2934135"/>
            <a:ext cx="3417480" cy="1706190"/>
          </a:xfrm>
          <a:prstGeom prst="rect">
            <a:avLst/>
          </a:prstGeom>
        </p:spPr>
      </p:pic>
      <p:pic>
        <p:nvPicPr>
          <p:cNvPr id="15" name="그림 14"/>
          <p:cNvPicPr/>
          <p:nvPr/>
        </p:nvPicPr>
        <p:blipFill rotWithShape="1">
          <a:blip r:embed="rId4">
            <a:lum/>
          </a:blip>
          <a:srcRect r="6706" b="5956"/>
          <a:stretch>
            <a:fillRect/>
          </a:stretch>
        </p:blipFill>
        <p:spPr>
          <a:xfrm>
            <a:off x="87312" y="4849813"/>
            <a:ext cx="3533394" cy="1879917"/>
          </a:xfrm>
          <a:prstGeom prst="rect">
            <a:avLst/>
          </a:prstGeom>
        </p:spPr>
      </p:pic>
      <p:pic>
        <p:nvPicPr>
          <p:cNvPr id="16" name="그림 15"/>
          <p:cNvPicPr/>
          <p:nvPr/>
        </p:nvPicPr>
        <p:blipFill rotWithShape="1">
          <a:blip r:embed="rId5"/>
          <a:srcRect r="8132" b="5228"/>
          <a:stretch>
            <a:fillRect/>
          </a:stretch>
        </p:blipFill>
        <p:spPr>
          <a:xfrm>
            <a:off x="3778249" y="4849813"/>
            <a:ext cx="3407664" cy="187991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" name="가로 글상자 16"/>
          <p:cNvSpPr txBox="1"/>
          <p:nvPr/>
        </p:nvSpPr>
        <p:spPr>
          <a:xfrm>
            <a:off x="190498" y="4532312"/>
            <a:ext cx="2053592" cy="361633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/>
              <a:t>Linear interpolation</a:t>
            </a:r>
            <a:endParaRPr lang="en-US" altLang="ko-KR"/>
          </a:p>
        </p:txBody>
      </p:sp>
      <p:sp>
        <p:nvSpPr>
          <p:cNvPr id="18" name="가로 글상자 17"/>
          <p:cNvSpPr txBox="1"/>
          <p:nvPr/>
        </p:nvSpPr>
        <p:spPr>
          <a:xfrm>
            <a:off x="3778249" y="4532312"/>
            <a:ext cx="1809116" cy="361633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/>
              <a:t>Log interpolation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59342595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383</ep:Words>
  <ep:PresentationFormat>화면 슬라이드 쇼(4:3)</ep:PresentationFormat>
  <ep:Paragraphs>47</ep:Paragraphs>
  <ep:Slides>4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ep:HeadingPairs>
  <ep:TitlesOfParts>
    <vt:vector size="5" baseType="lpstr">
      <vt:lpstr>한컴오피스</vt:lpstr>
      <vt:lpstr>슬라이드 1</vt:lpstr>
      <vt:lpstr>Vth -CCM</vt:lpstr>
      <vt:lpstr>Vth -CCM</vt:lpstr>
      <vt:lpstr>* 예시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2026-09-15T12:30:08.129</dcterms:created>
  <dc:creator>User</dc:creator>
  <cp:lastModifiedBy>User</cp:lastModifiedBy>
  <dcterms:modified xsi:type="dcterms:W3CDTF">2026-09-15T14:40:52.553</dcterms:modified>
  <cp:revision>77</cp:revision>
  <cp:version>13.0.0.2151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